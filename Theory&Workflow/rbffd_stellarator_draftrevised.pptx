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7EC8FB0C-7872-488F-0B00-191C3685EA9E}">
          <p14:sldIdLst>
            <p14:sldId id="256"/>
          </p14:sldIdLst>
        </p14:section>
        <p14:section name="Physics" id="{4C41D351-CDEA-FB81-9B3D-876924CB3184}">
          <p14:sldIdLst>
            <p14:sldId id="257"/>
            <p14:sldId id="258"/>
            <p14:sldId id="259"/>
            <p14:sldId id="260"/>
            <p14:sldId id="261"/>
          </p14:sldIdLst>
        </p14:section>
        <p14:section name="Problem" id="{9AFEE389-3587-7C31-9FA4-2FD96579B4E6}">
          <p14:sldIdLst>
            <p14:sldId id="262"/>
          </p14:sldIdLst>
        </p14:section>
        <p14:section name="Method" id="{E8B40F72-CD6F-B4D8-46A8-620A7F82DCFA}">
          <p14:sldIdLst>
            <p14:sldId id="263"/>
            <p14:sldId id="264"/>
            <p14:sldId id="265"/>
          </p14:sldIdLst>
        </p14:section>
        <p14:section name="Idea" id="{17BD57A0-930D-5212-2F03-995337C81E8E}">
          <p14:sldIdLst>
            <p14:sldId id="266"/>
          </p14:sldIdLst>
        </p14:section>
        <p14:section name="Analysis" id="{9F62547E-EEC8-2EC9-BF11-4C67EB591C4D}">
          <p14:sldIdLst>
            <p14:sldId id="267"/>
            <p14:sldId id="268"/>
            <p14:sldId id="269"/>
          </p14:sldIdLst>
        </p14:section>
        <p14:section name="Test problem" id="{69AC2320-197A-51F5-69CE-96818AAFDD4D}">
          <p14:sldIdLst>
            <p14:sldId id="270"/>
          </p14:sldIdLst>
        </p14:section>
        <p14:section name="Results" id="{95AE66FF-16A2-C292-5216-35BF065CC02E}">
          <p14:sldIdLst>
            <p14:sldId id="271"/>
            <p14:sldId id="274"/>
          </p14:sldIdLst>
        </p14:section>
        <p14:section name="Outlook" id="{291FA1BD-8FCA-B0AE-19C7-DE4C538CCFEC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50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stellarators confine fusion plasma with 3D magnetic fields. Heat moves almost only along field lines, which makes the transport equation extremely anisotropic. This talk (Part 1) builds a meshfree RBF-FD discretisation for that equation, and ends with a new least-squares stencil construction and its error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tokamak is axisymmetric, so one 2D cross-section describes everything. A stellarator gets its twist from the coils themselves, which buys steady-state operation but removes the symmetry. Everything downstream (grids, stencils) has to cope with a fully 3D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closed curve is a cross-section of a flux surface. Field lines never leave their surface, so heat that follows field lines stays confined. What matters for numerics: the surfaces change shape with the toroidal angle, so the direction of fast transport is different at every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Particles are tied to field lines. Along B they move freely, so heat conducts very fast (strongly temperature dependent). Across B they only hop by collisions. In the hot core the ratio is a million to a billion.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conductivity tensor K has a rank-one part along the unit field direction b-hat. Expanded, it is an isotropic Laplacian plus a huge directional term. Because b-hat is a general 3D vector field, no choice of grid lines up with it everywhere. That is the motivation for a meshfree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isotropic diffusion spreads as a round blob. Right: with a ratio of 40 the same source becomes a streak along the field line. In a 2D slice the tensor is a rotation of a diagonal matrix, and off-diagonal entries appear as soon as the field direction is not aligned with the coordinate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steady heat balance gives a second-order elliptic PDE with Dirichlet and Neumann parts of the boundary. With a Lipschitz, uniformly elliptic tensor, the ADN estimate ties the Sobolev smoothness of the solution to the smoothness of the data. That smoothness is what an RBF-FD error bound will be measured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of every finite-difference-type method: approximate L u at z by a weighted sum of nearby values. Classical FD fixes the weights with Taylor polynomials; RBF-FD fixes them by demanding exactness on radial basis functions, which works on scattered nodes. Then assemble a sparse global system. The error functional is bounded by a product: a norm of its Riesz representer v times the norm of u in the native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u locally as a combination of radial functions centred at Y. Applying L to the expansion and using the interpolation conditions gives the weight vector w. Equivalently, w must reproduce L phi_j(z) for every basis function, which is a linear system with the collocation matrix Phi. Classical RBF-FD uses the same points as stencil nodes and centers, so Phi is square. The table lists common choices and the polynomial degree needed for conditionally positive definite kernels.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Consistency is governed by the power function. For a general operator L the representer is L applied in z to the kernel section, minus the stencil combination, so the constant term is a double application of L to K on the diagonal and k becomes k_L. If L has order t this needs K roughly C^2t near z, the finite-smoothness condition in Davydov [5]. Stability is about how the weights respond to perturbations. The catch: in the classical square setup adding nodes improves the first and worsens the second, and a higher-order operator tightens the smoothness demand on K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stencil small (n nodes) but sample the basis functions at more centers (m &gt; n). The system Phi^T w = L phi(z) becomes overdetermined, so we minimise the residual in the 2-norm. The normal equations give a square n-by-n system. The remaining question is what this does to the error, which is the analysis on the next three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Previously this was written for L = identity, where b_j was just the kernel section K(z, y_j). For a general operator we apply L in the z variable: b_j = L^z K(z, y_j). The error function E_w is then the Riesz representer of the full functional Lu(z) minus the weighted sum, so for any u in the native space the error equals the inner product of u with E_w, and the power function is its norm. The residual is still exactly minus E_w sampled on the centers. Structural point worth saying out loud: A involves no L at all, so only the right-hand side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least-squares weights as the ideal weights plus an error e. Because the normal equations make the LS residual orthogonal to the range, the coefficient error is minus the pseudo-inverse applied to the residual of the ideal weights, so its norm is at most that residual over sigma-min of A. Step two converts a coefficient error to a function error through the kernel Gram matrix: the norm squared is e^T G e, which is at most lambda-max times the squared 2-norm (note: lambda-max, not its square root, appears in the squared bound). Since the ideal weights minimise P, E_{w*} is orthogonal to every K(., x_i), giving a Pythagorean identity and the bound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conflate the two matrices. G_X, built from the kernel at the stencil nodes, is the Gram matrix for the RKHS norm of the expansion. A A^T is built from the kernel evaluated at the centers; it governs the least-squares solve. Dividing by m, T_m is the Gram matrix of the induced kernel K_m, which converges to an integral kernel with respect to the sampling measure mu. Solving the normal equations is exactly classical RBF-FD with that kernel. The final bound adds to the power function of the ideal weights a penalty controlled by the ratio of lambda-max of G_X to lambda-min of T_m.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manufactured solution lets us measure the error exactly: pick u, compute f analytically, solve for u_h and compare. The coefficients c1 and c2 (A_c and B_c in the code) normalise the amplitude of the source. Alpha and beta must be integers for the sines to vanish on the boundary. The off-diagonal entry A12 produces the cosine-cosine terms in f. The illustration contour is only a picture of the formula for sample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convergence plots and conditioning tables for the test problem here. The headline observation is that the oversampled (least-squares) stencils have better-conditioned local systems, which makes the computed errors more reliable. The analysis predicts where conditioning enters: through the ratio of lambda-max(G_X) to lambda-min(T_m).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CEF8A-AD81-74A9-9E25-CE2F0948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34980-9538-A87B-E148-0A6BBACAD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0D0C7-B5F5-B43C-6548-5FE70D6D5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convergence plots and conditioning tables for the test problem here. The headline observation is that the oversampled (least-squares) stencils have better-conditioned local systems, which makes the computed errors more reliable. The analysis predicts where conditioning enters: through the ratio of lambda-max(G_X) to lambda-min(T_m).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7E71E-0A0E-F9FD-D1C4-8491D7B6B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13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narrative: physics gives a highly anisotropic, non-aligned diffusion tensor; RBF-FD handles scattered nodes; the classical square setup couples accuracy and conditioning; oversampling decouples them; the analysis quantifies the price through two Gram matrices. Next: refinement, the integral-kernel view, and a full quantitative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list from the original deck, retyped. [1] and [2] are cited on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for anisotropic diffusion  ·  Part 1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2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ux surface 1"/>
          <p:cNvSpPr/>
          <p:nvPr/>
        </p:nvSpPr>
        <p:spPr>
          <a:xfrm rot="-1680000">
            <a:off x="5852160" y="1695298"/>
            <a:ext cx="2926080" cy="1638605"/>
          </a:xfrm>
          <a:prstGeom prst="ellipse">
            <a:avLst/>
          </a:prstGeom>
          <a:solidFill>
            <a:schemeClr val="tx1">
              <a:alpha val="0"/>
            </a:schemeClr>
          </a:solidFill>
          <a:ln w="222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lux surface 2"/>
          <p:cNvSpPr/>
          <p:nvPr/>
        </p:nvSpPr>
        <p:spPr>
          <a:xfrm rot="-1680000">
            <a:off x="6080760" y="1823314"/>
            <a:ext cx="2468880" cy="1382573"/>
          </a:xfrm>
          <a:prstGeom prst="ellipse">
            <a:avLst/>
          </a:prstGeom>
          <a:solidFill>
            <a:schemeClr val="tx1">
              <a:alpha val="0"/>
            </a:schemeClr>
          </a:solidFill>
          <a:ln w="222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lux surface 3"/>
          <p:cNvSpPr/>
          <p:nvPr/>
        </p:nvSpPr>
        <p:spPr>
          <a:xfrm rot="-1680000">
            <a:off x="6309360" y="1951330"/>
            <a:ext cx="2011680" cy="1126541"/>
          </a:xfrm>
          <a:prstGeom prst="ellipse">
            <a:avLst/>
          </a:prstGeom>
          <a:solidFill>
            <a:schemeClr val="tx1">
              <a:alpha val="0"/>
            </a:schemeClr>
          </a:solidFill>
          <a:ln w="222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lux surface 4"/>
          <p:cNvSpPr/>
          <p:nvPr/>
        </p:nvSpPr>
        <p:spPr>
          <a:xfrm rot="-1680000">
            <a:off x="6537960" y="2079346"/>
            <a:ext cx="1554480" cy="870509"/>
          </a:xfrm>
          <a:prstGeom prst="ellipse">
            <a:avLst/>
          </a:prstGeom>
          <a:solidFill>
            <a:schemeClr val="tx1">
              <a:alpha val="0"/>
            </a:schemeClr>
          </a:solidFill>
          <a:ln w="222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ux surface 5"/>
          <p:cNvSpPr/>
          <p:nvPr/>
        </p:nvSpPr>
        <p:spPr>
          <a:xfrm rot="-1680000">
            <a:off x="6766560" y="2207362"/>
            <a:ext cx="1097280" cy="614477"/>
          </a:xfrm>
          <a:prstGeom prst="ellipse">
            <a:avLst/>
          </a:prstGeom>
          <a:solidFill>
            <a:schemeClr val="tx1">
              <a:alpha val="0"/>
            </a:schemeClr>
          </a:solidFill>
          <a:ln w="222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lux surface 6"/>
          <p:cNvSpPr/>
          <p:nvPr/>
        </p:nvSpPr>
        <p:spPr>
          <a:xfrm rot="-1680000">
            <a:off x="6995160" y="2335378"/>
            <a:ext cx="640080" cy="358445"/>
          </a:xfrm>
          <a:prstGeom prst="ellipse">
            <a:avLst/>
          </a:prstGeom>
          <a:solidFill>
            <a:schemeClr val="tx1">
              <a:alpha val="0"/>
            </a:schemeClr>
          </a:solidFill>
          <a:ln w="222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Magnetic axis"/>
          <p:cNvSpPr/>
          <p:nvPr/>
        </p:nvSpPr>
        <p:spPr>
          <a:xfrm>
            <a:off x="7251192" y="245059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12344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for Anisotropic Diffusion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lens of stellarator plasma confinement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Dennis  ·  Cornell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PHYSICS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What is a stellarator?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magnetic cage for fusion plasma: field lines wind around nested, toroidal surfaces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 (rotational transform ι) comes from 3D-shaped external coils, not from a large plasma current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Tokamak: axisymmetric. Stellarator: fully 3D, so there is no symmetry to exploit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|B| varies in all three directions (colour at right)</a:t>
            </a:r>
            <a:endParaRPr lang="en-US" sz="1500" dirty="0"/>
          </a:p>
        </p:txBody>
      </p:sp>
      <p:pic>
        <p:nvPicPr>
          <p:cNvPr id="5" name="Image 0" descr="Rotating-ellipse stellarator surface coloured by field strength |B|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703" y="1097280"/>
            <a:ext cx="3412273" cy="3108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Rotating-ellipse model, N = 5 field periods. Colour: |B|; white curve: one field line.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PHYSICS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Flux surfaces: nested, twisted, never symmetric</a:t>
            </a:r>
            <a:endParaRPr lang="en-US" sz="2400" dirty="0"/>
          </a:p>
        </p:txBody>
      </p:sp>
      <p:pic>
        <p:nvPicPr>
          <p:cNvPr id="4" name="Image 0" descr="Flux-surface cross-sections at four toroidal angles, rotating and reshap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822960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∇ψ = 0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field lines stay on their surface ψ = const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cross-section rotates and reshapes with the toroidal angle φ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Confinement means transport across ψ must stay tiny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PHYSICS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Where does anisotropy come from?</a:t>
            </a:r>
            <a:endParaRPr lang="en-US" sz="2400" dirty="0"/>
          </a:p>
        </p:txBody>
      </p:sp>
      <p:pic>
        <p:nvPicPr>
          <p:cNvPr id="4" name="Image 0" descr="Charged particle spiralling around a field line B: fast along B, slow a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24797"/>
            <a:ext cx="4480560" cy="31282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123444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particles spiral tightly around B (gyroradius ρ ≪ device size)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B they stream freely: very fast parallel conduction κ</a:t>
            </a:r>
            <a:r>
              <a:rPr lang="en-US" sz="1400" baseline="3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∥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(∝ T</a:t>
            </a:r>
            <a:r>
              <a:rPr lang="en-US" sz="1400" baseline="3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electrons)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 they move only via collisions: slow κ</a:t>
            </a:r>
            <a:r>
              <a:rPr lang="en-US" sz="1400" baseline="3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⊥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plasma: κ∥ / κ⊥ ~ 10⁶ to 10⁹ or more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PHYSICS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Anisotropic diffusion: the governing equations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2240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equation</a:t>
            </a:r>
            <a:endParaRPr lang="en-US" sz="1150" dirty="0"/>
          </a:p>
        </p:txBody>
      </p:sp>
      <p:pic>
        <p:nvPicPr>
          <p:cNvPr id="6" name="Image 0" descr="Equation: frac{partial T}{partial t}=nabla!cdot!left(mathbf{K}nabla Tright)+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359" y="1133856"/>
            <a:ext cx="1996722" cy="5394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19656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1819656"/>
            <a:ext cx="2240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tensor</a:t>
            </a:r>
            <a:endParaRPr lang="en-US" sz="1150" dirty="0"/>
          </a:p>
        </p:txBody>
      </p:sp>
      <p:pic>
        <p:nvPicPr>
          <p:cNvPr id="9" name="Image 1" descr="Equation: mathbf{K}=kappa_perpmathbf{I}+(kappa_parallel-kappa_perp),hat{b}hat{b}^{mathsf T},qquad hat b=mathbf B/|mathbf B|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162" y="1894911"/>
            <a:ext cx="4451116" cy="46213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2542032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640080" y="2542032"/>
            <a:ext cx="2240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form</a:t>
            </a:r>
            <a:endParaRPr lang="en-US" sz="1150" dirty="0"/>
          </a:p>
        </p:txBody>
      </p:sp>
      <p:pic>
        <p:nvPicPr>
          <p:cNvPr id="12" name="Image 2" descr="Equation: nabla!cdot!left(mathbf{K}nabla Tright)=kappa_perpnabla^2T+(kappa_parallel-kappa_perp),nabla!cdot!big(hat b,(hat b!cdot!nabla T)big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276" y="2617287"/>
            <a:ext cx="5100889" cy="4621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7200" y="3264408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640080" y="3264408"/>
            <a:ext cx="2240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Stellarator field (flux coordinates)</a:t>
            </a:r>
            <a:endParaRPr lang="en-US" sz="1150" dirty="0"/>
          </a:p>
        </p:txBody>
      </p:sp>
      <p:pic>
        <p:nvPicPr>
          <p:cNvPr id="15" name="Image 3" descr="Equation: mathbf B=nablapsitimesnablatheta+iota,nablaphitimesnablapsi,qquad mathbf B!cdot!nablapsi=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5749" y="3390047"/>
            <a:ext cx="4749942" cy="361371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21792" y="419709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621792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78992" y="4105656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plasmas: κ∥ / κ⊥ ~ 10⁶ to 10⁹+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b̂ is a 3D field with no symmetry, so grids cannot align with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PHYSICS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Anisotropic diffusion on a flux surface</a:t>
            </a:r>
            <a:endParaRPr lang="en-US" sz="2400" dirty="0"/>
          </a:p>
        </p:txBody>
      </p:sp>
      <p:pic>
        <p:nvPicPr>
          <p:cNvPr id="4" name="Image 0" descr="Heat from a point source: isotropic blob versus a streak along the field dire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8965"/>
            <a:ext cx="5212080" cy="242839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0" y="118872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source of heat streaks along b̂ and winds around the surface; across b̂ it barely spreads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2D slice K = R(γ) diag(κ</a:t>
            </a:r>
            <a:r>
              <a:rPr lang="en-US" sz="1300" baseline="3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∥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κ</a:t>
            </a:r>
            <a:r>
              <a:rPr lang="en-US" sz="1300" baseline="3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⊥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R(γ)</a:t>
            </a:r>
            <a:r>
              <a:rPr lang="en-US" sz="1300" baseline="3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γ the angle between b̂ and the grid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1792" y="415137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21792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4059936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b̂ is not grid-aligned, </a:t>
            </a: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K₁₂ ≠ 0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scheme must handle mixed derivatives on scattered nodes.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The PDE of interest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model problem (A plays the role of K)</a:t>
            </a:r>
            <a:endParaRPr lang="en-US" sz="1100" dirty="0"/>
          </a:p>
        </p:txBody>
      </p:sp>
      <p:pic>
        <p:nvPicPr>
          <p:cNvPr id="6" name="Image 0" descr="Equation: -nabla!cdot!big(Anabla ubig)=fquadtext{in }Omeg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605" y="1481328"/>
            <a:ext cx="2230551" cy="384048"/>
          </a:xfrm>
          <a:prstGeom prst="rect">
            <a:avLst/>
          </a:prstGeom>
        </p:spPr>
      </p:pic>
      <p:pic>
        <p:nvPicPr>
          <p:cNvPr id="7" name="Image 1" descr="Equation: u=g_Dquadtext{on }Gamma_DsubsetpartialOmeg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174" y="1920240"/>
            <a:ext cx="2335413" cy="347472"/>
          </a:xfrm>
          <a:prstGeom prst="rect">
            <a:avLst/>
          </a:prstGeom>
        </p:spPr>
      </p:pic>
      <p:pic>
        <p:nvPicPr>
          <p:cNvPr id="8" name="Image 2" descr="Equation: mathbf n!cdot! Anabla u=g_Nquadtext{on }Gamma_NsubsetpartialOmeg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2304288"/>
            <a:ext cx="2953512" cy="34747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6344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484632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on the tensor</a:t>
            </a:r>
            <a:endParaRPr lang="en-US" sz="1100" dirty="0"/>
          </a:p>
        </p:txBody>
      </p:sp>
      <p:pic>
        <p:nvPicPr>
          <p:cNvPr id="11" name="Image 3" descr="Equation: Ain W^{1,infty}big(barOmega;mathbb R^{dtimes d}big),qquad 1&lt;p&lt;inf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405" y="1481328"/>
            <a:ext cx="3441430" cy="384048"/>
          </a:xfrm>
          <a:prstGeom prst="rect">
            <a:avLst/>
          </a:prstGeom>
        </p:spPr>
      </p:pic>
      <p:pic>
        <p:nvPicPr>
          <p:cNvPr id="12" name="Image 4" descr="Equation: zeta,|xi|^2le xi^{mathsf T}A(mathbf x),xile Z,|xi|^2,qquad 0&lt;zetale Z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938364"/>
            <a:ext cx="3657600" cy="3478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846320" y="2359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symmetric and uniformly elliptic; Ω ⊂ ℝᵈ and L u := ∇·(A∇u).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457200" y="2926080"/>
            <a:ext cx="82296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 txBox="1"/>
          <p:nvPr/>
        </p:nvSpPr>
        <p:spPr>
          <a:xfrm>
            <a:off x="640080" y="29900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Regularity: Agmon–Douglis–Nirenberg estimate [2], for f ∈ W</a:t>
            </a:r>
            <a:r>
              <a:rPr lang="en-US" sz="1100" b="1" baseline="3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k−2,p</a:t>
            </a: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(Ω)</a:t>
            </a:r>
            <a:endParaRPr lang="en-US" sz="1100" dirty="0"/>
          </a:p>
        </p:txBody>
      </p:sp>
      <p:pic>
        <p:nvPicPr>
          <p:cNvPr id="16" name="Image 5" descr="Equation: |u|_{W^{k,p}(Omega)}le CBig(|Lu|_{W^{k-2,p}(Omega)}+|g_D|_{W^{k-1/p,p}(partialOmega)}+|g_N|_{W^{k-1-1/p,p}(partialOmega)}+|u|_{L^p(Omega)}Big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572" y="3337560"/>
            <a:ext cx="7224855" cy="4572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(f, g</a:t>
            </a:r>
            <a:r>
              <a:rPr lang="en-US" sz="125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</a:t>
            </a:r>
            <a:r>
              <a:rPr lang="en-US" sz="125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control the smoothness of u. This is the yardstick for the approximation error of the scheme that follows.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METHOD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RBF-FD: replace the operator by a weighted sum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pic>
        <p:nvPicPr>
          <p:cNvPr id="6" name="Image 0" descr="Equation: Lu(z);approx;L_hu(z)=sum_{i=1}^{n}w_i,u(mathbf x_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077" y="1097280"/>
            <a:ext cx="2628247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9202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" y="20299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9436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87552" y="20299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stencil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423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node z, pick n neighbours X = {x₁,…,xₙ} and look for weights wᵢ.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8980" y="19202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06140" y="20299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340614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799332" y="20299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Exactness on RBFs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06140" y="2423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 so the formula is exact on radial functions φⱼ (classical FD: exact on Taylor polynomials).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80760" y="19202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17920" y="20299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217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611112" y="20299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system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2423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sparse matrix W, impose the boundary conditions, solve W u = b.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40080" y="35387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is a bounded linear functional ξ = L − L</a:t>
            </a:r>
            <a:r>
              <a:rPr lang="en-US" sz="110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pic>
        <p:nvPicPr>
          <p:cNvPr id="24" name="Image 1" descr="Equation: big|Lu(z)-L_hu(z)big|=big|xi_{mathbf w,L,z}(u)big|le|v_{mathbf w,L,z}|_{mathcal N(Omega)},|u|_{mathcal N(Omega)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039" y="3840480"/>
            <a:ext cx="5259921" cy="38404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factor depends on how w is chosen (node-dependent), the other on the smoothness of u (function-dependent).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METHOD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Setting up the local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5166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0607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u by RBFs on a neighbourhood Ω</a:t>
            </a:r>
            <a:r>
              <a:rPr lang="en-US" sz="105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z</a:t>
            </a:r>
            <a:endParaRPr lang="en-US" sz="1050" dirty="0"/>
          </a:p>
        </p:txBody>
      </p:sp>
      <p:pic>
        <p:nvPicPr>
          <p:cNvPr id="6" name="Image 0" descr="Equation: hat u(mathbf x)=sum_{j=1}^{m}lambda_j,phi_j(mathbf x)=boldsymbolphi(mathbf x)^{mathsf T}boldsymbollamb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536" y="1325880"/>
            <a:ext cx="1985688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965960"/>
            <a:ext cx="5166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94360" y="20025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 and use the interpolation conditions u = Φλ</a:t>
            </a:r>
            <a:endParaRPr lang="en-US" sz="1050" dirty="0"/>
          </a:p>
        </p:txBody>
      </p:sp>
      <p:pic>
        <p:nvPicPr>
          <p:cNvPr id="9" name="Image 1" descr="Equation: Lu(z)approx Lhat u(z)=(Lboldsymbolphi)(z)^{mathsf T}boldsymbollambd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873" y="2258568"/>
            <a:ext cx="2569014" cy="347472"/>
          </a:xfrm>
          <a:prstGeom prst="rect">
            <a:avLst/>
          </a:prstGeom>
        </p:spPr>
      </p:pic>
      <p:pic>
        <p:nvPicPr>
          <p:cNvPr id="10" name="Image 2" descr="Equation: boldsymbollambda=Phi^{-1}mathbf u;Rightarrow;Lhat u(z)=underbrace{(Lboldsymbolphi)(z)^{mathsf T}Phi^{-1}}_{=:,mathbf w^{mathsf T}},mathbf 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6537" y="2633472"/>
            <a:ext cx="3247685" cy="58521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57200" y="3319272"/>
            <a:ext cx="516636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594360" y="33558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matrix (X: stencil nodes, Y: centers) and the exactness conditions</a:t>
            </a:r>
            <a:endParaRPr lang="en-US" sz="1050" dirty="0"/>
          </a:p>
        </p:txBody>
      </p:sp>
      <p:pic>
        <p:nvPicPr>
          <p:cNvPr id="13" name="Image 3" descr="Equation: Phi_{ij}=phi_j(mathbf x_i),qquad Phiinmathbb R^{ntimes 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6748" y="3611880"/>
            <a:ext cx="2347265" cy="310896"/>
          </a:xfrm>
          <a:prstGeom prst="rect">
            <a:avLst/>
          </a:prstGeom>
        </p:spPr>
      </p:pic>
      <p:pic>
        <p:nvPicPr>
          <p:cNvPr id="14" name="Image 4" descr="Equation: Phi^{mathsf T}mathbf w=(Lboldsymbolphi)(z)quadLongleftrightarrowquadsum_{i=1}^{n}w_i,phi_j(mathbf x_i)=Lphi_j(z),  j=1,dots,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964183"/>
            <a:ext cx="4892040" cy="612130"/>
          </a:xfrm>
          <a:prstGeom prst="rect">
            <a:avLst/>
          </a:prstGeom>
        </p:spPr>
      </p:pic>
      <p:pic>
        <p:nvPicPr>
          <p:cNvPr id="15" name="Image 5" descr="Table of common radial basis functions with their minimal conditionally-positive-definite ord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0" y="1324848"/>
            <a:ext cx="2880360" cy="1775999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806440" y="3429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radial basis functions, r = ‖x − y‖, ε the shape parameter. Order k &gt; 0 needs polynomial terms of degree k − 1 in the expansion.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5806440" y="4114800"/>
            <a:ext cx="2880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0"/>
          <p:cNvSpPr/>
          <p:nvPr/>
        </p:nvSpPr>
        <p:spPr>
          <a:xfrm>
            <a:off x="5971032" y="423367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/>
          <p:cNvSpPr txBox="1"/>
          <p:nvPr/>
        </p:nvSpPr>
        <p:spPr>
          <a:xfrm>
            <a:off x="5971032" y="4233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6428232" y="415137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RBF-FD: </a:t>
            </a: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= X, Φ square.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METHOD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Consistency, stability, and the catch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5074920" cy="2487168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0607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how small can the error be?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350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</a:t>
            </a:r>
            <a:r>
              <a:rPr lang="en-US" sz="110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w,L,z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Riesz representer E</a:t>
            </a:r>
            <a:r>
              <a:rPr lang="en-US" sz="110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its norm is the power function P</a:t>
            </a:r>
            <a:r>
              <a:rPr lang="en-US" sz="110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(w) = ‖E</a:t>
            </a:r>
            <a:r>
              <a:rPr lang="en-US" sz="110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‖. L acts in the z variable only.</a:t>
            </a:r>
            <a:endParaRPr lang="en-US" sz="1100" dirty="0"/>
          </a:p>
        </p:txBody>
      </p:sp>
      <p:pic>
        <p:nvPicPr>
          <p:cNvPr id="7" name="Image 0" descr="Equation: P_L(mathbf w)^2=big(L^zL^{z'}Kbig)(z,z)-2,mathbf w^{mathsf T}mathbf k_L+mathbf w^{mathsf T}G_Xmathbf 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46" y="1810512"/>
            <a:ext cx="4213149" cy="384048"/>
          </a:xfrm>
          <a:prstGeom prst="rect">
            <a:avLst/>
          </a:prstGeom>
        </p:spPr>
      </p:pic>
      <p:pic>
        <p:nvPicPr>
          <p:cNvPr id="8" name="Image 1" descr="Equation: mathbf w_*=G_X^{-1}mathbf k_L,qquad P_{L,*}^2=big(L^zL^{z'}Kbig)(z,z)-mathbf k_L^{mathsf T}G_X^{-1}mathbf k_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96" y="2231136"/>
            <a:ext cx="4670248" cy="384048"/>
          </a:xfrm>
          <a:prstGeom prst="rect">
            <a:avLst/>
          </a:prstGeom>
        </p:spPr>
      </p:pic>
      <p:pic>
        <p:nvPicPr>
          <p:cNvPr id="9" name="Image 2" descr="Equation: mathbf k_L=big[(L^zK)(z,mathbf x_i)big]_i,qquad G_X=big[K(mathbf x_i,mathbf x_k)big]_{i,k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149" y="2651760"/>
            <a:ext cx="3688743" cy="347472"/>
          </a:xfrm>
          <a:prstGeom prst="rect">
            <a:avLst/>
          </a:prstGeom>
        </p:spPr>
      </p:pic>
      <p:pic>
        <p:nvPicPr>
          <p:cNvPr id="10" name="Image 3" descr="Equation: text{$L$ of order $t$}:quad (L^zK)(z,cdot)inmathcal H_K text{ and } big(L^zL^{z'}Kbig)(z,z)&lt;inftyquadLeftarrowquad Kin C^{2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092977"/>
            <a:ext cx="4754880" cy="26971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669280" y="1024128"/>
            <a:ext cx="3017520" cy="2487168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 txBox="1"/>
          <p:nvPr/>
        </p:nvSpPr>
        <p:spPr>
          <a:xfrm>
            <a:off x="5852160" y="1060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how sensitive is w?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5852160" y="13716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solve Φᵀw = Lφ(z), so data errors are amplified by cond(Φ)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flat or dense stencils make Φ almost singular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w destroys the accuracy that P</a:t>
            </a:r>
            <a:r>
              <a:rPr lang="en-US" sz="12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promises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L needs smoother K: the demands pull against each other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57200" y="3621024"/>
            <a:ext cx="822960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640080" y="3749040"/>
            <a:ext cx="123444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 txBox="1"/>
          <p:nvPr/>
        </p:nvSpPr>
        <p:spPr>
          <a:xfrm>
            <a:off x="640080" y="3749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938528" y="3813048"/>
            <a:ext cx="457200" cy="237744"/>
          </a:xfrm>
          <a:prstGeom prst="left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2459736" y="3749040"/>
            <a:ext cx="12344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2459736" y="3749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4187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“Heisenberg” uncertainty principle of RBF-FD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3977640" y="3703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stencil nodes: </a:t>
            </a: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power function, but larger cond(Φ). </a:t>
            </a: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 = X </a:t>
            </a: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nodes are stencil and centers, so they decide consistency and stability at once.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IDEA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Decouple stencil nodes from centers</a:t>
            </a:r>
            <a:endParaRPr lang="en-US" sz="2400" dirty="0"/>
          </a:p>
        </p:txBody>
      </p:sp>
      <p:pic>
        <p:nvPicPr>
          <p:cNvPr id="4" name="Image 0" descr="Stencil nodes (squares), more centers (circles) and evaluation point (star) inside a neighbourhoo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0" y="1051560"/>
            <a:ext cx="2942001" cy="3611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0" y="109728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Classical: 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n, Y = X. Exactness is an interpolation condition.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Oversampled: 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&gt; n centers. Exactness relaxes to a small residual (for m &lt; n see [1]).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Payoff: 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centers for stability, stencil nodes for locality.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023360" y="2788920"/>
            <a:ext cx="46634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206240" y="28529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weights</a:t>
            </a:r>
            <a:endParaRPr lang="en-US" sz="1100" dirty="0"/>
          </a:p>
        </p:txBody>
      </p:sp>
      <p:pic>
        <p:nvPicPr>
          <p:cNvPr id="8" name="Image 1" descr="Equation: mathbf r(z)=Lboldsymbolphi(z)-Phi^{mathsf T}mathbf winmathbb R^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926" y="3154680"/>
            <a:ext cx="2578308" cy="365760"/>
          </a:xfrm>
          <a:prstGeom prst="rect">
            <a:avLst/>
          </a:prstGeom>
        </p:spPr>
      </p:pic>
      <p:pic>
        <p:nvPicPr>
          <p:cNvPr id="9" name="Image 2" descr="Equation: mathbf w_{LS}=argmin_{mathbf winmathbb R^{n}} tfrac12|mathbf r(z)|_2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099" y="3593592"/>
            <a:ext cx="2177961" cy="411480"/>
          </a:xfrm>
          <a:prstGeom prst="rect">
            <a:avLst/>
          </a:prstGeom>
        </p:spPr>
      </p:pic>
      <p:pic>
        <p:nvPicPr>
          <p:cNvPr id="10" name="Image 3" descr="Equation: PhiPhi^{mathsf T}mathbf w=Phi,Lboldsymbolphi(z)qquadtext{(normal equations)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8351" y="4069080"/>
            <a:ext cx="3873458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Least squares: what does the residual measure?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0607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 K strictly positive definite, φⱼ = K(·, yⱼ) so Φ = A. The data carry the operator: bⱼ = L</a:t>
            </a:r>
            <a:r>
              <a:rPr lang="en-US" sz="1050" b="1" baseline="3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K(z, yⱼ)</a:t>
            </a:r>
            <a:endParaRPr lang="en-US" sz="1050" dirty="0"/>
          </a:p>
        </p:txBody>
      </p:sp>
      <p:pic>
        <p:nvPicPr>
          <p:cNvPr id="6" name="Image 0" descr="Equation: A_{ij}=K(mathbf x_i,mathbf y_j),qquad A^{mathsf T}mathbf w=mathbf b,qquad b_j=(L^zK)(z,mathbf y_j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354" y="1350752"/>
            <a:ext cx="6767292" cy="4988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048256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204825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function (Riesz representer)</a:t>
            </a:r>
            <a:endParaRPr lang="en-US" sz="1150" dirty="0"/>
          </a:p>
        </p:txBody>
      </p:sp>
      <p:pic>
        <p:nvPicPr>
          <p:cNvPr id="9" name="Image 1" descr="Equation: E_{mathbf w}(cdot)=(L^zK)(z,cdot)-sum_{i=1}^{n}w_i,K(mathbf x_i,cdot) in mathcal H_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276" y="2075688"/>
            <a:ext cx="3130607" cy="548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274320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640080" y="27432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pic>
        <p:nvPicPr>
          <p:cNvPr id="12" name="Image 2" descr="Equation: Lu(z)-sum_{i=1}^{n}w_iu(mathbf x_i)=biglangle u,E_{mathbf w}bigrangle_{mathcal H_K} Rightarrow P_L(mathbf w)=|E_{mathbf w}|_{mathcal H_K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681" y="2770632"/>
            <a:ext cx="3983798" cy="548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7200" y="3438144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640080" y="343814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error function on Y</a:t>
            </a:r>
            <a:endParaRPr lang="en-US" sz="1150" dirty="0"/>
          </a:p>
        </p:txBody>
      </p:sp>
      <p:pic>
        <p:nvPicPr>
          <p:cNvPr id="15" name="Image 3" descr="Equation: r_j=big(A^{mathsf T}mathbf w-mathbf bbig)_j=-E_{mathbf w}(mathbf y_j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8513" y="3501375"/>
            <a:ext cx="3170133" cy="47704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57200" y="4169664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21792" y="428853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621792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78992" y="420624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changes with L: A, G</a:t>
            </a:r>
            <a:r>
              <a:rPr lang="en-US" sz="12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chain below are untouched. P</a:t>
            </a:r>
            <a:r>
              <a:rPr lang="en-US" sz="12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(w) = ‖E</a:t>
            </a:r>
            <a:r>
              <a:rPr lang="en-US" sz="12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 is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residual sees E</a:t>
            </a:r>
            <a:r>
              <a:rPr lang="en-US" sz="12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on 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From residual to coefficient to function error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024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weights w</a:t>
            </a:r>
            <a:r>
              <a:rPr lang="en-US" sz="115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G</a:t>
            </a:r>
            <a:r>
              <a:rPr lang="en-US" sz="115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</a:t>
            </a:r>
            <a:r>
              <a:rPr lang="en-US" sz="115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</a:t>
            </a:r>
            <a:r>
              <a:rPr lang="en-US" sz="115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50" dirty="0"/>
          </a:p>
        </p:txBody>
      </p:sp>
      <p:pic>
        <p:nvPicPr>
          <p:cNvPr id="6" name="Image 0" descr="Equation: mathbf w_{LS}=mathbf w_*+mathbf e,qquad f_{mathbf e}:=sum_{i=1}^{n}e_i,K(cdot,mathbf x_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108" y="1051560"/>
            <a:ext cx="2954744" cy="5852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2880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30352" y="182880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100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Aᵀw</a:t>
            </a:r>
            <a:r>
              <a:rPr lang="en-US" sz="1100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b = −E</a:t>
            </a:r>
            <a:r>
              <a:rPr lang="en-US" sz="1100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w*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1100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∈ ℝᵐ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182880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547872" y="182880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error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w</a:t>
            </a:r>
            <a:r>
              <a:rPr lang="en-US" sz="1100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w</a:t>
            </a:r>
            <a:r>
              <a:rPr lang="en-US" sz="1100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∈ ℝⁿ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92240" y="182880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565392" y="182880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error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100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 eᵢ K(·, xᵢ)  ∈ H</a:t>
            </a:r>
            <a:r>
              <a:rPr lang="en-US" sz="1100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697480" y="2263140"/>
            <a:ext cx="7315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65176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(Aᵀ)†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15000" y="2263140"/>
            <a:ext cx="7315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66928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200" b="1" baseline="-40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83464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94360" y="2862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uses 1 / σ</a:t>
            </a:r>
            <a:r>
              <a:rPr lang="en-US" sz="105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</a:t>
            </a:r>
            <a:endParaRPr lang="en-US" sz="1050" dirty="0"/>
          </a:p>
        </p:txBody>
      </p:sp>
      <p:pic>
        <p:nvPicPr>
          <p:cNvPr id="19" name="Image 1" descr="Equation: mathbf e=-(A^{mathsf T})^{dagger}mathbf r_*,qquad |mathbf e|_2lefrac{|mathbf r_*|_2}{sigma_{min}(A)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347" y="3108960"/>
            <a:ext cx="3089066" cy="56692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663440" y="283464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800600" y="2862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uses λ</a:t>
            </a:r>
            <a:r>
              <a:rPr lang="en-US" sz="105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</a:t>
            </a:r>
            <a:r>
              <a:rPr lang="en-US" sz="105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pic>
        <p:nvPicPr>
          <p:cNvPr id="22" name="Image 2" descr="Equation: |f_{mathbf e}|_{mathcal H_K}^2=mathbf e^{mathsf T}G_Xmathbf elelambda_{max}(G_X),|mathbf e|_2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180277"/>
            <a:ext cx="3749040" cy="42429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594360" y="38404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5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w*</a:t>
            </a: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⊥ f</a:t>
            </a:r>
            <a:r>
              <a:rPr lang="en-US" sz="115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</a:t>
            </a:r>
            <a:endParaRPr lang="en-US" sz="1150" dirty="0"/>
          </a:p>
        </p:txBody>
      </p:sp>
      <p:pic>
        <p:nvPicPr>
          <p:cNvPr id="25" name="Image 3" descr="Equation: P_L(mathbf w_{LS})^2=P_{L,*}^2+mathbf e^{mathsf T}G_Xmathbf 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4048679"/>
            <a:ext cx="3017520" cy="45228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892040" y="384048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pic>
        <p:nvPicPr>
          <p:cNvPr id="27" name="Image 4" descr="Equation: P_L(mathbf w_{LS})^2 le P_{L,*}^2+frac{lambda_{max}(G_X)}{sigma_{min}(A)^2},|mathbf r_*|_2^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4017288"/>
            <a:ext cx="3017520" cy="515064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Two Gram matrices, two roles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069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100" b="1" baseline="-40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[K(xᵢ, xₖ)]: RKHS geometry</a:t>
            </a:r>
            <a:endParaRPr lang="en-US" sz="1100" dirty="0"/>
          </a:p>
        </p:txBody>
      </p:sp>
      <p:pic>
        <p:nvPicPr>
          <p:cNvPr id="6" name="Image 0" descr="Equation: Big|sum_i w_i K(cdot,mathbf x_i)Big|_{mathcal H_K}^2=mathbf w^{mathsf T}G_Xmathbf 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385" y="1353312"/>
            <a:ext cx="2036989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18562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function Σ wᵢK(·, xᵢ). Converts coefficient error to function error (λ</a:t>
            </a:r>
            <a:r>
              <a:rPr lang="en-US" sz="115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024128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800600" y="1069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Aᵀ: least-squares geometry</a:t>
            </a:r>
            <a:endParaRPr lang="en-US" sz="1100" dirty="0"/>
          </a:p>
        </p:txBody>
      </p:sp>
      <p:pic>
        <p:nvPicPr>
          <p:cNvPr id="10" name="Image 1" descr="Equation: big(AA^{mathsf T}big)_{ik}=sum_{j=1}^{m}K(mathbf x_i,mathbf y_j),K(mathbf x_k,mathbf y_j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820" y="1353312"/>
            <a:ext cx="19746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00600" y="18562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Gram matrix on Y. Converts residual to coefficient error: σ</a:t>
            </a:r>
            <a:r>
              <a:rPr lang="en-US" sz="115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(A)² = λ</a:t>
            </a:r>
            <a:r>
              <a:rPr lang="en-US" sz="115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(AAᵀ).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2487168"/>
            <a:ext cx="8229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4008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equations (b carries L)</a:t>
            </a:r>
            <a:endParaRPr lang="en-US" sz="1100" dirty="0"/>
          </a:p>
        </p:txBody>
      </p:sp>
      <p:pic>
        <p:nvPicPr>
          <p:cNvPr id="14" name="Image 2" descr="Equation: underbrace{tfrac1m AA^{mathsf T}}_{T_m},mathbf w=tfrac1m Amathbf b Longleftrightarrow big[K_m(mathbf x_i,mathbf x_k)big]mathbf w=big[(L^zK_m)(z,mathbf x_i)big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03013"/>
            <a:ext cx="3840480" cy="4850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0080" y="35112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passes through the finite sum, so this is classical RBF-FD for K</a:t>
            </a:r>
            <a:r>
              <a:rPr lang="en-US" sz="105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same operator L.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2542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Induced kernel and its limit (sampling measure μ)</a:t>
            </a:r>
            <a:endParaRPr lang="en-US" sz="1100" dirty="0"/>
          </a:p>
        </p:txBody>
      </p:sp>
      <p:pic>
        <p:nvPicPr>
          <p:cNvPr id="17" name="Image 3" descr="Equation: K_m(mathbf x,mathbf x')=frac1msum_{j=1}^{m}K(mathbf x,mathbf y_j),K(mathbf x',mathbf y_j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3280" y="2816352"/>
            <a:ext cx="2352240" cy="502920"/>
          </a:xfrm>
          <a:prstGeom prst="rect">
            <a:avLst/>
          </a:prstGeom>
        </p:spPr>
      </p:pic>
      <p:pic>
        <p:nvPicPr>
          <p:cNvPr id="18" name="Image 4" descr="Equation: K_m xrightarrow{ mtoinfty } K_mu(mathbf x,mathbf x')=int K(mathbf x,mathbf y),K(mathbf x',mathbf y),dmu(mathbf y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343188"/>
            <a:ext cx="3931920" cy="47337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57200" y="3950208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 txBox="1"/>
          <p:nvPr/>
        </p:nvSpPr>
        <p:spPr>
          <a:xfrm>
            <a:off x="594360" y="395020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pic>
        <p:nvPicPr>
          <p:cNvPr id="21" name="Image 5" descr="Equation: P_L(mathbf w_{LS})^2 le P_{L,*}^2+frac{lambda_{max}(G_X)}{lambda_{min}(T_m)}cdotfrac{|mathbf r_*|_2^2}{m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5067" y="3977640"/>
            <a:ext cx="4156427" cy="6949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577840" y="395020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</a:t>
            </a:r>
            <a:r>
              <a:rPr lang="en-US" sz="110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(1/m)AAᵀ and ‖r</a:t>
            </a:r>
            <a:r>
              <a:rPr lang="en-US" sz="110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‖²/m → ‖E</a:t>
            </a:r>
            <a:r>
              <a:rPr lang="en-US" sz="110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w*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‖² in L²(μ). Larger λ</a:t>
            </a:r>
            <a:r>
              <a:rPr lang="en-US" sz="110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sz="110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means a smaller stability penalty.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TEST PROBLEM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A manufactured solution for anisotropic diffusion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0607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on the square, homogeneous Dirichlet data</a:t>
            </a:r>
            <a:endParaRPr lang="en-US" sz="1050" dirty="0"/>
          </a:p>
        </p:txBody>
      </p:sp>
      <p:pic>
        <p:nvPicPr>
          <p:cNvPr id="6" name="Image 0" descr="Equation: -nabla!cdot!big(Anabla ubig)=f text{ in }(0,L)^2,qquad u=0 text{ on }partial(0,L)^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43" y="1316736"/>
            <a:ext cx="3863993" cy="310896"/>
          </a:xfrm>
          <a:prstGeom prst="rect">
            <a:avLst/>
          </a:prstGeom>
        </p:spPr>
      </p:pic>
      <p:pic>
        <p:nvPicPr>
          <p:cNvPr id="7" name="Image 1" descr="Equation: A=begin{pmatrix}A_{11}&amp;A_{12}A_{12}&amp;A_{22}end{pmatrix} text{symmetric positive definite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656" y="1645920"/>
            <a:ext cx="2889768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212848"/>
            <a:ext cx="54406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94360" y="22494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solution and normalising coefficients</a:t>
            </a:r>
            <a:endParaRPr lang="en-US" sz="1050" dirty="0"/>
          </a:p>
        </p:txBody>
      </p:sp>
      <p:pic>
        <p:nvPicPr>
          <p:cNvPr id="10" name="Image 2" descr="Equation: u(x,y)=c_1sinfrac{alphapi x}{L}sinfrac{betapi y}{L}+c_2sinfrac{betapi x}{L}sinfrac{alphapi y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688" y="2505456"/>
            <a:ext cx="3199704" cy="384048"/>
          </a:xfrm>
          <a:prstGeom prst="rect">
            <a:avLst/>
          </a:prstGeom>
        </p:spPr>
      </p:pic>
      <p:pic>
        <p:nvPicPr>
          <p:cNvPr id="11" name="Image 3" descr="Equation: c_1=frac{mathrm{Amp},L^2}{pi^2left(alpha^2A_{11}+beta^2A_{22}right)},qquad c_2=frac{mathrm{Amp},L^2}{pi^2left(beta^2A_{11}+alpha^2A_{22}right)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9227" y="2907792"/>
            <a:ext cx="3176626" cy="38404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57200" y="3419856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594360" y="345643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term, from f = −∇·(A∇u)</a:t>
            </a:r>
            <a:endParaRPr lang="en-US" sz="1050" dirty="0"/>
          </a:p>
        </p:txBody>
      </p:sp>
      <p:pic>
        <p:nvPicPr>
          <p:cNvPr id="14" name="Image 4" descr="Equation: begin{aligned}f(x,y)&amp;=mathrm{Amp}Big[sintfrac{alphapi x}{L}sintfrac{betapi y}{L}+sintfrac{betapi x}{L}sintfrac{alphapi y}{L}Big]&amp;quad-frac{2pi^2alphabeta A_{12}}{L^2}Big[c_1costfrac{alphapi x}{L}costfrac{betapi y}{L}+c_2costfrac{betapi x}{L}costfrac{alphapi y}{L}Big]end{aligned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18973"/>
            <a:ext cx="5166360" cy="928814"/>
          </a:xfrm>
          <a:prstGeom prst="rect">
            <a:avLst/>
          </a:prstGeom>
        </p:spPr>
      </p:pic>
      <p:pic>
        <p:nvPicPr>
          <p:cNvPr id="15" name="Image 5" descr="Contour plot of the manufactured solution on the unit squa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0627" y="1024128"/>
            <a:ext cx="1972026" cy="192024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6080760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of u: L = 1, α = 1, β = 2, A₁₁ = 3, A₂₂ = 1</a:t>
            </a:r>
            <a:endParaRPr lang="en-US" sz="950" dirty="0"/>
          </a:p>
        </p:txBody>
      </p:sp>
      <p:sp>
        <p:nvSpPr>
          <p:cNvPr id="17" name="Text 9"/>
          <p:cNvSpPr txBox="1"/>
          <p:nvPr/>
        </p:nvSpPr>
        <p:spPr>
          <a:xfrm>
            <a:off x="6035040" y="333756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α, β ∈ ℕ make u = 0 on the boundary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A₁₂ ≠ 0 creates the cos·cos terms in f: the mixed derivative that a grid-aligned stencil misses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 by γ gives A₁₂ = (κ</a:t>
            </a:r>
            <a:r>
              <a:rPr lang="en-US" sz="1100" baseline="3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∥</a:t>
            </a: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κ</a:t>
            </a:r>
            <a:r>
              <a:rPr lang="en-US" sz="1100" baseline="3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⊥</a:t>
            </a: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sin γ cos γ, as in the stellarator tensor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Numerical study: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" y="379933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21792" y="3799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3648456"/>
            <a:ext cx="7452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oversampled centers give better-conditioned local systems, so the computed errors are more reliable.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from the analysis: the penalty in the bound scales with λ</a:t>
            </a:r>
            <a:r>
              <a:rPr lang="en-US" sz="115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</a:t>
            </a:r>
            <a:r>
              <a:rPr lang="en-US" sz="115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λ</a:t>
            </a:r>
            <a:r>
              <a:rPr lang="en-US" sz="115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sz="115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so conditioning enters the error explicitly.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F2F1062-5038-0F7F-8CD6-837E22447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7260"/>
            <a:ext cx="4699179" cy="25331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A9C8387-BAB8-305C-AB9A-50513E9FE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511" y="987260"/>
            <a:ext cx="4699179" cy="25331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3761A9-629D-C2F9-CE4E-EDBA4BC8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1A3E261-C2EE-B94A-E18D-AA5CC0B4B740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RESULTS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01F7AD-EA01-CDC3-EF74-A7CC99017D98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Numerical study: stencil conditioning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DD8154-0FAB-9FD1-F371-0324212C9AB9}"/>
              </a:ext>
            </a:extLst>
          </p:cNvPr>
          <p:cNvSpPr/>
          <p:nvPr/>
        </p:nvSpPr>
        <p:spPr>
          <a:xfrm>
            <a:off x="457200" y="109728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9ADAF8-5580-43AF-FC07-D867AD1AB0EA}"/>
              </a:ext>
            </a:extLst>
          </p:cNvPr>
          <p:cNvSpPr/>
          <p:nvPr/>
        </p:nvSpPr>
        <p:spPr>
          <a:xfrm>
            <a:off x="594360" y="12070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528B9A2-239D-5296-B86D-45E678C540CC}"/>
              </a:ext>
            </a:extLst>
          </p:cNvPr>
          <p:cNvSpPr txBox="1"/>
          <p:nvPr/>
        </p:nvSpPr>
        <p:spPr>
          <a:xfrm>
            <a:off x="59436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273EA2-4516-6B16-077B-FE8CB56054DB}"/>
              </a:ext>
            </a:extLst>
          </p:cNvPr>
          <p:cNvSpPr txBox="1"/>
          <p:nvPr/>
        </p:nvSpPr>
        <p:spPr>
          <a:xfrm>
            <a:off x="987552" y="1207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06A7618-8338-E44F-2599-8FFC46F36449}"/>
              </a:ext>
            </a:extLst>
          </p:cNvPr>
          <p:cNvSpPr txBox="1"/>
          <p:nvPr/>
        </p:nvSpPr>
        <p:spPr>
          <a:xfrm>
            <a:off x="594360" y="16459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Stencil size 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ratio m / 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Anisotropy ratio κ∥ / κ⊥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γ of the eigenvector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50D4BD4-A246-A6E2-06B0-4256B95E7D7D}"/>
              </a:ext>
            </a:extLst>
          </p:cNvPr>
          <p:cNvSpPr/>
          <p:nvPr/>
        </p:nvSpPr>
        <p:spPr>
          <a:xfrm>
            <a:off x="3081528" y="2148840"/>
            <a:ext cx="1828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7456671-4024-E90C-F46D-78428EFA6372}"/>
              </a:ext>
            </a:extLst>
          </p:cNvPr>
          <p:cNvSpPr/>
          <p:nvPr/>
        </p:nvSpPr>
        <p:spPr>
          <a:xfrm>
            <a:off x="3268980" y="109728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F1751E8-DE83-0EB9-D936-89718FBD0C31}"/>
              </a:ext>
            </a:extLst>
          </p:cNvPr>
          <p:cNvSpPr/>
          <p:nvPr/>
        </p:nvSpPr>
        <p:spPr>
          <a:xfrm>
            <a:off x="3406140" y="12070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23706B9-0A67-BDD2-9446-A9E391B25588}"/>
              </a:ext>
            </a:extLst>
          </p:cNvPr>
          <p:cNvSpPr txBox="1"/>
          <p:nvPr/>
        </p:nvSpPr>
        <p:spPr>
          <a:xfrm>
            <a:off x="340614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DA2F6A5-C317-BC42-754B-F2934F1EB3E6}"/>
              </a:ext>
            </a:extLst>
          </p:cNvPr>
          <p:cNvSpPr txBox="1"/>
          <p:nvPr/>
        </p:nvSpPr>
        <p:spPr>
          <a:xfrm>
            <a:off x="3799332" y="1207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7A5188E-E5DE-3267-3965-65CAA64DA5B1}"/>
              </a:ext>
            </a:extLst>
          </p:cNvPr>
          <p:cNvSpPr txBox="1"/>
          <p:nvPr/>
        </p:nvSpPr>
        <p:spPr>
          <a:xfrm>
            <a:off x="3406140" y="16459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number of the local systems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residual ‖r‖₂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error ‖u − u_h‖ / ‖u‖ on the test problem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7704C1E-59D5-B222-3AB6-A1782264AE43}"/>
              </a:ext>
            </a:extLst>
          </p:cNvPr>
          <p:cNvSpPr/>
          <p:nvPr/>
        </p:nvSpPr>
        <p:spPr>
          <a:xfrm>
            <a:off x="5893308" y="2148840"/>
            <a:ext cx="1828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A2E5E63-0158-813A-2303-45455546B9BD}"/>
              </a:ext>
            </a:extLst>
          </p:cNvPr>
          <p:cNvSpPr/>
          <p:nvPr/>
        </p:nvSpPr>
        <p:spPr>
          <a:xfrm>
            <a:off x="6080760" y="109728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581A316-176A-29A7-58D7-6C2AAA494375}"/>
              </a:ext>
            </a:extLst>
          </p:cNvPr>
          <p:cNvSpPr/>
          <p:nvPr/>
        </p:nvSpPr>
        <p:spPr>
          <a:xfrm>
            <a:off x="6217920" y="12070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D40FD68-9A28-6044-F285-6B80A20B66E5}"/>
              </a:ext>
            </a:extLst>
          </p:cNvPr>
          <p:cNvSpPr txBox="1"/>
          <p:nvPr/>
        </p:nvSpPr>
        <p:spPr>
          <a:xfrm>
            <a:off x="621792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9CA446D-F182-6B94-2B1F-3A6A0D5032F2}"/>
              </a:ext>
            </a:extLst>
          </p:cNvPr>
          <p:cNvSpPr txBox="1"/>
          <p:nvPr/>
        </p:nvSpPr>
        <p:spPr>
          <a:xfrm>
            <a:off x="6611112" y="1207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C8F513-0E3F-964C-75AD-49EA23BED032}"/>
              </a:ext>
            </a:extLst>
          </p:cNvPr>
          <p:cNvSpPr txBox="1"/>
          <p:nvPr/>
        </p:nvSpPr>
        <p:spPr>
          <a:xfrm>
            <a:off x="6217920" y="16459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square scheme (m = n)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scheme (m &gt; n)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nodes, same kernel, same test problem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6849C42-3324-6A48-6458-2BF8B02860FB}"/>
              </a:ext>
            </a:extLst>
          </p:cNvPr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D3883D2-B9A0-0D42-4624-8CECA78B50E5}"/>
              </a:ext>
            </a:extLst>
          </p:cNvPr>
          <p:cNvSpPr/>
          <p:nvPr/>
        </p:nvSpPr>
        <p:spPr>
          <a:xfrm>
            <a:off x="621792" y="379933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3028773-B8AF-3528-5360-301D10FFF229}"/>
              </a:ext>
            </a:extLst>
          </p:cNvPr>
          <p:cNvSpPr txBox="1"/>
          <p:nvPr/>
        </p:nvSpPr>
        <p:spPr>
          <a:xfrm>
            <a:off x="621792" y="3799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AB486C4-FFB8-09F3-D39B-F2E355FB0C43}"/>
              </a:ext>
            </a:extLst>
          </p:cNvPr>
          <p:cNvSpPr txBox="1"/>
          <p:nvPr/>
        </p:nvSpPr>
        <p:spPr>
          <a:xfrm>
            <a:off x="1078992" y="3648456"/>
            <a:ext cx="7452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oversampled centers give better-conditioned local systems, so the computed errors are more reliable.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9BE7A4D-4CB1-2070-83AE-4AE0830AF874}"/>
              </a:ext>
            </a:extLst>
          </p:cNvPr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from the analysis: the penalty in the bound scales with λ</a:t>
            </a:r>
            <a:r>
              <a:rPr lang="en-US" sz="115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</a:t>
            </a:r>
            <a:r>
              <a:rPr lang="en-US" sz="115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λ</a:t>
            </a:r>
            <a:r>
              <a:rPr lang="en-US" sz="115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sz="1150" baseline="-40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so conditioning enters the error explicitly.</a:t>
            </a:r>
            <a:endParaRPr lang="en-US" sz="115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F34D1C4F-6469-D436-A45D-3843716BF2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85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OUTLOOK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Summary and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3677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Anisotropy with a 3D field direction rules out grid-aligned stencils; RBF-FD works on scattered nodes.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6829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31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RBF-FD ties accuracy to conditioning because nodes double as centers.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998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63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 with m &gt; n separates the two; the residual is the error function sampled on 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3831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947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chain: residual → coefficients → function, governed by σ</a:t>
            </a:r>
            <a:r>
              <a:rPr lang="en-US" sz="125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and λ</a:t>
            </a:r>
            <a:r>
              <a:rPr lang="en-US" sz="125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</a:t>
            </a:r>
            <a:r>
              <a:rPr lang="en-US" sz="125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84632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63677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46320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methods: 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scheme: where to add nodes and centers.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59689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84632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2560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space, two routes: 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 the RKHS with the integral kernel K</a:t>
            </a:r>
            <a:r>
              <a:rPr lang="en-US" sz="13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show it gives the same approximation space as increasing the number of nodes.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55701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846320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520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effect: 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convergence and conditioning for anisotropic, stellarator-like tensors.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REFERENCES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Slak, J. (2026). Adaptive RBF-FD method. PhD Thesis, University of Ljubljana.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Agmon, S., Douglis, A., Nirenberg, L. (1959). Estimates near the boundary for solutions of elliptic PDEs satisfying general boundary conditions I. Comm. Pure Appl. Math. 12: 623–727.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Petras, A., Ling, L., Piret, C., Ruuth, S. J. (2018). A least-squares implicit RBF-FD closest point method and applications to PDEs on moving surfaces. J. Comput. Phys. 363: 94–114.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Beatson, R., Davydov, O., Levesley, J. (2009). Error bounds for anisotropic RBF interpolation. J. Approx. Theory 162(1): 1–20.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Davydov, O. (2025). Error bounds for numerical differentiation using kernels of finite smoothness.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Davydov, O. (2020). Approximation with conditionally positive definite kernels on deficient sets. arXiv:2006.13543.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Flyer, N., Fornberg, B., Bayona, V., Barnett, G. A. (2016). On the role of polynomials in RBF-FD approximations: I. Interpolation and accuracy. J. Comput. Phys. 321: 21–38.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Bayona, V. (2019). An insight into RBF-FD approximations augmented with polynomials. Comput. Math. Appl. 77(9): 2337–2353.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Davydov, O., Schaback, R. (2018). Minimal numerical differentiation formulas. Numer. Math. 140(3): 555–592.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Oanh, D. T., Davydov, O., Phu, H. X. (2016). Adaptive RBF-FD method for elliptic problems with point singularities in 2D. Preprint.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Schaback, R. (2016). Error analysis of nodal meshless methods. Preprint.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Seibold, B. (2006). M-matrices in meshless finite difference methods. Dissertation, Univ. of Kaiserslautern.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Seibold, B. (2008). Minimal positive stencils in meshfree finite difference methods for the Poisson equation. Comput. Methods Appl. Mech. Eng. 198(3–4): 592–601.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Stetter, H. J. (1973). Analysis of Discretization Methods for Ordinary Differential Equations. Springer, New York.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BFFD-Stellarator">
  <a:themeElements>
    <a:clrScheme name="RBFFD-Stellarator">
      <a:dk1>
        <a:srgbClr val="14213D"/>
      </a:dk1>
      <a:lt1>
        <a:srgbClr val="FFFFFF"/>
      </a:lt1>
      <a:dk2>
        <a:srgbClr val="44546A"/>
      </a:dk2>
      <a:lt2>
        <a:srgbClr val="F1F5F9"/>
      </a:lt2>
      <a:accent1>
        <a:srgbClr val="0E7C86"/>
      </a:accent1>
      <a:accent2>
        <a:srgbClr val="E07A1F"/>
      </a:accent2>
      <a:accent3>
        <a:srgbClr val="9FD8DD"/>
      </a:accent3>
      <a:accent4>
        <a:srgbClr val="C9D3E0"/>
      </a:accent4>
      <a:accent5>
        <a:srgbClr val="5B6C8F"/>
      </a:accent5>
      <a:accent6>
        <a:srgbClr val="2F855A"/>
      </a:accent6>
      <a:hlink>
        <a:srgbClr val="0E7C86"/>
      </a:hlink>
      <a:folHlink>
        <a:srgbClr val="44546A"/>
      </a:folHlink>
    </a:clrScheme>
    <a:fontScheme name="RBFFD-Stellarato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3512</Words>
  <Application>Microsoft Office PowerPoint</Application>
  <PresentationFormat>On-screen Show (16:9)</PresentationFormat>
  <Paragraphs>242</Paragraphs>
  <Slides>19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RBFFD-Stellarator</vt:lpstr>
      <vt:lpstr>PowerPoint Presentation</vt:lpstr>
      <vt:lpstr>What is a stellarator?</vt:lpstr>
      <vt:lpstr>Flux surfaces: nested, twisted, never symmetric</vt:lpstr>
      <vt:lpstr>Where does anisotropy come from?</vt:lpstr>
      <vt:lpstr>Anisotropic diffusion: the governing equations</vt:lpstr>
      <vt:lpstr>Anisotropic diffusion on a flux surface</vt:lpstr>
      <vt:lpstr>The PDE of interest</vt:lpstr>
      <vt:lpstr>RBF-FD: replace the operator by a weighted sum</vt:lpstr>
      <vt:lpstr>Setting up the local problem</vt:lpstr>
      <vt:lpstr>Consistency, stability, and the catch</vt:lpstr>
      <vt:lpstr>Decouple stencil nodes from centers</vt:lpstr>
      <vt:lpstr>Least squares: what does the residual measure?</vt:lpstr>
      <vt:lpstr>From residual to coefficient to function error</vt:lpstr>
      <vt:lpstr>Two Gram matrices, two roles</vt:lpstr>
      <vt:lpstr>A manufactured solution for anisotropic diffusion</vt:lpstr>
      <vt:lpstr>Numerical study:</vt:lpstr>
      <vt:lpstr>Numerical study: stencil conditioning</vt:lpstr>
      <vt:lpstr>Summary and next steps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RBF-FD for Anisotropic Diffusion: Part 1</dc:title>
  <dc:subject>PptxGenJS Presentation</dc:subject>
  <dc:creator>Dennis</dc:creator>
  <cp:lastModifiedBy>Dennis Corraliza</cp:lastModifiedBy>
  <cp:revision>3</cp:revision>
  <dcterms:created xsi:type="dcterms:W3CDTF">2026-10-02T03:53:40Z</dcterms:created>
  <dcterms:modified xsi:type="dcterms:W3CDTF">2026-10-02T04:26:11Z</dcterms:modified>
</cp:coreProperties>
</file>