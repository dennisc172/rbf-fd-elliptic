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3" r:id="rId10"/>
    <p:sldId id="262" r:id="rId11"/>
    <p:sldId id="264" r:id="rId12"/>
    <p:sldId id="267" r:id="rId13"/>
    <p:sldId id="268" r:id="rId14"/>
    <p:sldId id="270" r:id="rId15"/>
    <p:sldId id="271" r:id="rId16"/>
    <p:sldId id="272" r:id="rId17"/>
    <p:sldId id="275" r:id="rId18"/>
    <p:sldId id="277" r:id="rId19"/>
    <p:sldId id="279" r:id="rId20"/>
    <p:sldId id="276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06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B2C4-D727-4CE6-9603-3523FF83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42497-5FEA-1B2C-DF83-10E565709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410FC-EE03-FC0F-886D-8721E71AF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01B69-1225-AB07-AFC0-F094E2A20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55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FDA4-B6BA-659D-1D8F-97AF9CC6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9091C-4BB1-3239-7FF3-B03564FBC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97414-03FE-9E3E-3092-3DB86EDDF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5B35C-4FB3-C3B4-B5DF-8A5833861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24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EC23-D1E8-6A7D-FF0D-7A24935B9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8992B-BC56-C7C9-3D8E-532469792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47B26-B5C5-F6F4-BBDC-C06B3A473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0DA44-1195-ED1A-16BB-800AD4215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40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2DF3-0B35-70B3-1022-E8D00F66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CBFB8-89AD-2B63-F089-163ACC06A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F29E6-DE93-F988-BB94-2C2FBFAEF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637D3-C59A-016F-3372-9FA8FAFD3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66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C1689-5C38-5FBE-EA72-B83757D7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C17A2-2C35-25AF-EBB6-6A1B7E559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814E9-DE7F-FE79-1F72-DB0B59B18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5D1FB-A65D-2F3B-9B36-062CB231CB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51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1B65-797A-D376-CF37-6B091B3B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F7459-A81E-5F58-9C05-1CE61FD0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7BE6F-B464-F35F-E685-9750810A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C25FA-66DB-955A-0BE6-F371B97A3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5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0232-E8A9-5CCA-BD6C-C81A4BFC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9B285-69B4-7873-09AB-757AD3F86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65B15-D6EE-170F-1C18-081A56085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E06E2-999D-6AB1-ABB9-0794B62C2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5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97DB-AFE8-8FA0-4C11-F9937913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EA46C-F85D-CE6C-F287-4D4208661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68D9E-E2C2-81A4-445B-4FC107692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0180C-D437-DCBB-3FEF-7C44770D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94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6BC5C-64D2-2F64-5C7D-FD2E68BA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423DA-F507-503E-8622-1C64FB5BA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C0A93-513E-05DB-02C6-FD0EC9CC7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DDE1C-C23E-B410-529E-95BD3BC3BF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526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32E6D-F664-4ED9-089D-E75CB967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92389-F37A-EBF2-349F-DC13E299D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AAF75-6EC9-3B79-7FB6-538A7CE2E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07BC8-175A-411F-8662-79B52B9C69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348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A6E4-50E8-7F07-7C66-1795916C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6EF7B-2695-CF81-07FD-7FEEBCCE5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2A525-5A40-64C9-FF5C-E7E107450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DFF5-2C07-5A3B-777B-D21216F95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40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34F7-EE94-B761-AA17-939E5187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AF5D1-7C68-ADD0-2CA8-D84F04BD4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BDF80-9048-317A-101F-C909A50C1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FC9FD-1B17-281C-7AFC-0B2E02C09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37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91BD-9EAF-B5DB-5CBC-75CCA9F6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A3027-C703-3960-7E38-15C61358E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D9E04-9C33-774B-2495-C5AFD8943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49C82-7B50-2894-57A6-D1AC71E53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31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D5EE-4BDB-321C-2B15-5CFD54D6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C5A6E-D98F-F2DE-BD35-2726FF794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CBDF6-13CE-82FB-8580-9DFD95B8C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671D2-5E72-9FA9-8A1E-33E521E9E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3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B14CD-4E73-144F-2E31-2A5F6CAF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020B6-03B0-2645-0E48-CE269CF8D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482AF-436D-CD18-6C9F-72532F525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1F74B-B608-8FE7-5E62-D8018E700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for Anisotropic Diffusion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lens of stellarator plasma confinement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· Cornell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stellarator?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magnetic cage for fusion plasma: field lines wind around nested, toroidal surfaces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 (rotational transform ι) comes from 3D-shaped external coils, not from a large plasma current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Tokamak: axisymmetric. Stellarator: fully 3D, so no symmetry to exploit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|B| varies in all three directions (colour at right)</a:t>
            </a:r>
            <a:endParaRPr lang="en-US" sz="1500" dirty="0"/>
          </a:p>
        </p:txBody>
      </p:sp>
      <p:pic>
        <p:nvPicPr>
          <p:cNvPr id="4" name="Image 0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68680"/>
            <a:ext cx="4014439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Rotating-ellipse model, N = 5 field periods. Colour: |B|; white curve: one field line.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surfaces: nested, twisted, never symmetric</a:t>
            </a:r>
            <a:endParaRPr lang="en-US" sz="2600" dirty="0"/>
          </a:p>
        </p:txBody>
      </p:sp>
      <p:pic>
        <p:nvPicPr>
          <p:cNvPr id="3" name="Image 0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822960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∇ψ = 0: field lines stay on their surface ψ = const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cross-section rotates and reshapes with toroidal angle 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Confinement means transport across ψ must stay tiny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anisotropy come from?</a:t>
            </a:r>
            <a:endParaRPr lang="en-US" sz="2600" dirty="0"/>
          </a:p>
        </p:txBody>
      </p:sp>
      <p:pic>
        <p:nvPicPr>
          <p:cNvPr id="3" name="Image 0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518422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particles spiral tightly around B (gyroradius ρ ≪ device size)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B they stream freely: very fast parallel conduction κ∥ (∝ T^5/2 for electrons)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 they move only via collisions: slow κ⊥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plasma: κ∥/κ⊥ ~ 10⁶ to 10⁹ or more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Diffusion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9436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equation</a:t>
            </a:r>
            <a:endParaRPr lang="en-US" sz="1200" dirty="0"/>
          </a:p>
        </p:txBody>
      </p:sp>
      <p:pic>
        <p:nvPicPr>
          <p:cNvPr id="5" name="Image 0" descr="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47572"/>
            <a:ext cx="1862328" cy="356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tensor</a:t>
            </a:r>
            <a:endParaRPr lang="en-US" sz="1200" dirty="0"/>
          </a:p>
        </p:txBody>
      </p:sp>
      <p:pic>
        <p:nvPicPr>
          <p:cNvPr id="8" name="Image 1" descr="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866900"/>
            <a:ext cx="3785616" cy="381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59436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form</a:t>
            </a:r>
            <a:endParaRPr lang="en-US" sz="1200" dirty="0"/>
          </a:p>
        </p:txBody>
      </p:sp>
      <p:pic>
        <p:nvPicPr>
          <p:cNvPr id="11" name="Image 2" descr="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598420"/>
            <a:ext cx="4590288" cy="381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59436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Stellarator field (flux coordinates)</a:t>
            </a:r>
            <a:endParaRPr lang="en-US" sz="1200" dirty="0"/>
          </a:p>
        </p:txBody>
      </p:sp>
      <p:pic>
        <p:nvPicPr>
          <p:cNvPr id="14" name="Image 3" descr="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381756"/>
            <a:ext cx="3843528" cy="2773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plasmas: κ∥/κ⊥ ~ 10⁶ to 10⁹+, and b̂ is a 3D field with no symmetry, so grids cannot align with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anisotropic diffusion on a flux surface</a:t>
            </a:r>
            <a:endParaRPr lang="en-US" sz="2600" dirty="0"/>
          </a:p>
        </p:txBody>
      </p:sp>
      <p:pic>
        <p:nvPicPr>
          <p:cNvPr id="3" name="Image 0" descr="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862" y="868680"/>
            <a:ext cx="6280276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source of heat streaks along b̂ and winds around the surface; across b̂ it barely spreads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2D slice K = R(α) diag(κ∥, κ⊥) R(α)ᵀ: off-diagonal entries K₁₂ appear whenever b̂ is not grid-aligned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3768D-1EB6-5063-1A47-2A15D0BD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361F3F-235F-FD9C-8CB9-904DDAE8F15F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of Interest</a:t>
            </a:r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920721-F2EE-181C-500E-16255C5F1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777" y="1363027"/>
            <a:ext cx="343852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3B3D6F-2696-596D-3E9B-F9982C3E4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937" y="1753552"/>
            <a:ext cx="328612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4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6D716-DDAC-BF64-8EE0-97680689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3313F6-9CA2-E60B-0B3D-28740021FDAC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Assumptions</a:t>
            </a:r>
            <a:endParaRPr lang="en-US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E3614-B5FF-322A-007E-706726A2B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1033459"/>
            <a:ext cx="4429125" cy="409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9B7A7F-3046-F99E-9A32-DA9CA278B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1510661"/>
            <a:ext cx="3829050" cy="447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73EC27-5D7B-C6A9-4642-DD235CBA7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65157"/>
            <a:ext cx="8239125" cy="571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984CD1-92DA-6AC0-27F7-B93EB77FA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40255"/>
            <a:ext cx="4019550" cy="390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C8864F-1B1C-C2D3-527C-48BA88336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907982"/>
            <a:ext cx="29718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95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DCFC-DA98-502C-FA7B-6DCAC329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3556EA-BD52-4E2D-D18F-47B8489BDDE7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C7F51CE-A98D-FEC0-97F9-831F62B9BF4C}"/>
              </a:ext>
            </a:extLst>
          </p:cNvPr>
          <p:cNvSpPr txBox="1"/>
          <p:nvPr/>
        </p:nvSpPr>
        <p:spPr>
          <a:xfrm>
            <a:off x="45720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approximate Lu ~ 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set of test functions to approximate the operator L at a set of nodes.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have a good approximator, we solve for the PDE of interest by applying the boundary conditions.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FD9D1FA-0CA9-7D52-DE37-AF220A6191B6}"/>
              </a:ext>
            </a:extLst>
          </p:cNvPr>
          <p:cNvSpPr txBox="1"/>
          <p:nvPr/>
        </p:nvSpPr>
        <p:spPr>
          <a:xfrm>
            <a:off x="4323471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approximate Lu ~ 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set of test functions to approximate the operator L at a set of nodes.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have a good approximator, we solve for the PDE of interest by applying the boundary conditions.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375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F1BB3-51FB-0193-5920-93E45BBD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DF0AE4-374B-F866-01EC-48F10C1B789C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9F90DA4-05BE-74E5-8974-587194461773}"/>
              </a:ext>
            </a:extLst>
          </p:cNvPr>
          <p:cNvSpPr txBox="1"/>
          <p:nvPr/>
        </p:nvSpPr>
        <p:spPr>
          <a:xfrm>
            <a:off x="2788920" y="1505902"/>
            <a:ext cx="356616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approximate Lu ~ 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set of test functions to approximate the operator L at a set of nodes.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have a good approximator, we solve for the PDE of interest by applying the boundary conditions.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DBB5962-999E-DD95-4EB0-F8B1C0963DFE}"/>
              </a:ext>
            </a:extLst>
          </p:cNvPr>
          <p:cNvSpPr txBox="1"/>
          <p:nvPr/>
        </p:nvSpPr>
        <p:spPr>
          <a:xfrm>
            <a:off x="2788920" y="3489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study the approximation scheme, we rely on the following error analysis:</a:t>
            </a:r>
            <a:b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F06869-AAAE-FB32-BAE4-085A615E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182" y="4040505"/>
            <a:ext cx="59340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3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5158-A9A6-C412-247A-CAD42EB7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3A53A8-6BF6-C09B-FE08-2C02AD41942E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Part 2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F18F0A3-D804-FAB5-8CE0-BAF1CF1D489C}"/>
              </a:ext>
            </a:extLst>
          </p:cNvPr>
          <p:cNvSpPr txBox="1"/>
          <p:nvPr/>
        </p:nvSpPr>
        <p:spPr>
          <a:xfrm>
            <a:off x="45720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 solution: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 Operator: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equation: W u = b, solve for u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C9C4CB-1884-7BB5-B597-42BCFA26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004" y="1066506"/>
            <a:ext cx="3105150" cy="628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3E673C-178F-D765-20AE-A15024438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5004" y="2045676"/>
            <a:ext cx="6051598" cy="50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7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88752-4A97-C6E9-4C40-8DBC9CA98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7627BD-DBA7-E190-C58C-51B41A2DEA92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Part 3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5E268DE-1FE7-3D61-25CF-92E2BE627406}"/>
              </a:ext>
            </a:extLst>
          </p:cNvPr>
          <p:cNvSpPr txBox="1"/>
          <p:nvPr/>
        </p:nvSpPr>
        <p:spPr>
          <a:xfrm>
            <a:off x="45720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Finite Difference: Approximate the operator by  Taylor Expansion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RBFFD: Approximate operator by using a basis of radial functions and solving for the exactness on the functions in the space at a set of nodes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40A18-9D02-ECE0-1BE0-8831BA29B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196" y="2645539"/>
            <a:ext cx="5241607" cy="220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40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6F4-E02C-87C0-04E5-3FD68361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3F11AE-F3EB-F01A-3F33-026822420D85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Part 4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EDF6860-2338-094C-B686-30C1F11F6805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set up the system: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function space we use: RKHS.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discrete subspace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the RKHS by increasing the dimension of the discrete space and applying completion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drawing of the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DA6A8-C390-29E7-77D7-5ED96D148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686" y="2692773"/>
            <a:ext cx="6400800" cy="111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5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F2DC-F0E7-6E63-69B0-9D9B3D14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3D7694-D1EA-4AF8-2951-CCE92C71D4C9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Part 5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4BBB0CA-00FA-3779-B69E-CB457172EF2B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</a:t>
            </a:r>
            <a:b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Power function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</a:p>
        </p:txBody>
      </p:sp>
    </p:spTree>
    <p:extLst>
      <p:ext uri="{BB962C8B-B14F-4D97-AF65-F5344CB8AC3E}">
        <p14:creationId xmlns:p14="http://schemas.microsoft.com/office/powerpoint/2010/main" val="1992787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0FBA-8E7F-DCAE-54BF-FC7B51C9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3419C5-E06F-CE11-7C3F-40CA820FE543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Part 6-7: Drawbacks and Uncertainty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5E09924-428A-FE65-97FF-B2901401316F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RBFFD “Heisenberg” Uncertainty Principle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accuracy &lt;-&gt; higher conditioning of the local solves</a:t>
            </a:r>
          </a:p>
          <a:p>
            <a:pPr marL="1257300" lvl="2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stencil nodes, more conditioning of the matrix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the square structure of the nodes acting as centers, the noes play a role in the consistency, as well as the stability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0912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A5B2-41B9-EFF4-E775-5CACB31F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567B77-D938-D553-A52A-C6280B46A9C9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Part </a:t>
            </a:r>
            <a:r>
              <a:rPr lang="en-US" sz="2600" b="1" dirty="0" err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infty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677B534-9BC6-4850-E422-8843615A1854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separate stencil nodes from centers (Different sampling)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7BCDE-5EBB-8E24-6CF5-1170D730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179" y="1649570"/>
            <a:ext cx="6766560" cy="1799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07F5D2-B52C-47D9-6AF7-4DD22331C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41" y="3837496"/>
            <a:ext cx="42386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7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24DA-2CCB-F98D-F9B6-16D3E33B2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A24370-E052-8DA4-F7D1-EF334D16F5F5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Part infty+1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B8F09DB-1F7B-22C6-F38A-06966D3DF4B5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Repreoduction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space 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V_h</a:t>
            </a: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</a:t>
            </a:r>
            <a:b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W_LS and 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w_opt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added to power function: minimizing for opt leads to the standard power function + an extra term referring to the eigenvalue of (1/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mAA^T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mAA^T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integral k(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x,z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)k(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y,z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5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dmu</a:t>
            </a: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b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681AB-462B-96D9-0FB0-5567830F9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74" y="1643281"/>
            <a:ext cx="17145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4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C89B3-A5D9-9610-55F3-6FA71862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A8EC16-CA87-93D9-4B5E-1CDAF0DD39C8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Results 1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4351EAE-01FC-2D06-0B23-A03B8DBA8EF8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Problem: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diffusion problem on the square domain [0, L] × [0, L]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with homogeneous Dirichlet boundary conditions.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PDE: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.. math::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\\nabla \\cdot (A \\nabla u) = f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\quad \text{in } [0,L]^2,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where A is a symmetric positive definite diffusion tensor.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Exact solution: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.. math::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u(</a:t>
            </a:r>
            <a:r>
              <a:rPr lang="en-US" sz="4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x,y</a:t>
            </a: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4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A_c</a:t>
            </a: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\sin(\\alpha \\pi x / L)\sin(\\beta \\pi y / L)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+ </a:t>
            </a:r>
            <a:r>
              <a:rPr lang="en-US" sz="4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\sin(\\beta \\pi x / L)\sin(\\alpha \\pi y / L),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with coefficients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.. math::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4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A_c</a:t>
            </a: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\\frac{\\text{Amp}}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{\\pi^2 (\\alpha^2 A_{11} + \\beta^2 A_{22}) / L^2},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\</a:t>
            </a:r>
            <a:r>
              <a:rPr lang="en-US" sz="4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qquad</a:t>
            </a: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r>
              <a:rPr lang="en-US" sz="400" dirty="0" err="1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\\frac{\\text{Amp}}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{\\pi^2 (\\beta^2 A_{11} + \\alpha^2 A_{22}) / L^2}.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These ensure the manufactured solution satisfies the anisotropic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operator for any SPD matrix A and any domain size L.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Boundary conditions: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.. math::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u = 0 \quad \text{on } \partial[0,L]^2.</a:t>
            </a:r>
            <a:br>
              <a:rPr lang="en-US" sz="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4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5777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C6855-38E9-57E7-0981-D9ACE158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184781-D892-4E8D-AA76-A90A3C1E30BC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Results 2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F6B11D8-FAFB-F1FE-279D-FB7938ADD492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of matrices improve: better more reliable results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graphs and tables</a:t>
            </a:r>
            <a:b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4065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396E-BAF5-1AC5-4E3D-C8A29946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1E0A64-F122-66D6-10B8-C6011FD10906}"/>
              </a:ext>
            </a:extLst>
          </p:cNvPr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RBF-FD Method Next Steps</a:t>
            </a:r>
            <a:endParaRPr lang="en-US" sz="2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21CFE49-9E0B-5334-5584-FAC68FB34917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Methods for this scheme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by redefining the RKHS by setting the integral as the kernel, we get the same space of approximation from increasing the number of nodes.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effect</a:t>
            </a:r>
          </a:p>
        </p:txBody>
      </p:sp>
    </p:spTree>
    <p:extLst>
      <p:ext uri="{BB962C8B-B14F-4D97-AF65-F5344CB8AC3E}">
        <p14:creationId xmlns:p14="http://schemas.microsoft.com/office/powerpoint/2010/main" val="978238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D9B8-8839-D5FC-2FB4-75A296A1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B7FBDCED-44E9-9B42-F25F-1E5D71B9EADE}"/>
              </a:ext>
            </a:extLst>
          </p:cNvPr>
          <p:cNvSpPr txBox="1"/>
          <p:nvPr/>
        </p:nvSpPr>
        <p:spPr>
          <a:xfrm>
            <a:off x="457200" y="1188720"/>
            <a:ext cx="767392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445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500DB-4B10-DB73-D1BE-C257DDE2D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26" y="115217"/>
            <a:ext cx="4010810" cy="502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96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1116</Words>
  <Application>Microsoft Office PowerPoint</Application>
  <PresentationFormat>On-screen Show (16:9)</PresentationFormat>
  <Paragraphs>150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RBF-FD for anisotropic diffusion: stellarator problem setting</dc:title>
  <dc:subject>PptxGenJS Presentation</dc:subject>
  <dc:creator>PptxGenJS</dc:creator>
  <cp:lastModifiedBy>Dennis Corraliza</cp:lastModifiedBy>
  <cp:revision>4</cp:revision>
  <dcterms:created xsi:type="dcterms:W3CDTF">2026-10-01T18:27:29Z</dcterms:created>
  <dcterms:modified xsi:type="dcterms:W3CDTF">2026-10-02T04:27:17Z</dcterms:modified>
</cp:coreProperties>
</file>